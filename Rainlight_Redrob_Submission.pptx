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463040"/>
            <a:ext cx="5029200" cy="5029200"/>
          </a:xfrm>
          <a:prstGeom prst="ellipse">
            <a:avLst/>
          </a:prstGeom>
          <a:solidFill>
            <a:srgbClr val="1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1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777240"/>
            <a:ext cx="868680" cy="8686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868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COUNCIL OF NINE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1704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3A4B8"/>
                </a:solidFill>
                <a:latin typeface="Segoe UI"/>
              </a:rPr>
              <a:t>Candidate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The AI Recruiting </a:t>
            </a:r>
            <a:r>
              <a:rPr sz="5200" b="1">
                <a:solidFill>
                  <a:srgbClr val="22D3EE"/>
                </a:solidFill>
                <a:latin typeface="Segoe UI"/>
              </a:rPr>
              <a:t>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93A4B8"/>
                </a:solidFill>
                <a:latin typeface="Segoe UI"/>
              </a:rPr>
              <a:t>An explainable engine that reads profiles instead of counting keywords —
ranking 100,000 candidates in ~2 minutes on CPU, fully offline.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52628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4800600"/>
            <a:ext cx="1271016" cy="310896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837176"/>
            <a:ext cx="1271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Team: Rainlight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1992" y="4800600"/>
            <a:ext cx="1870862" cy="310896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2" y="4837176"/>
            <a:ext cx="18708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Team Leader: Varshith 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257800"/>
            <a:ext cx="5919825" cy="310896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294376"/>
            <a:ext cx="59198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Track 1 — The Data &amp; AI Challenge · Intelligent Candidate Discovery &amp;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3A4B8"/>
                </a:solidFill>
                <a:latin typeface="Segoe UI"/>
              </a:rPr>
              <a:t>India Runs by Redrob AI  ·  Idea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Solution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What is our proposed solution?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400" b="0">
                <a:solidFill>
                  <a:srgbClr val="E8EEF6"/>
                </a:solidFill>
                <a:latin typeface="Segoe UI"/>
              </a:rPr>
              <a:t>The “Council of Nine” — a candidate-ranking engine where nine interpretable sub-scorers each judge a different dimension of fit, then fuse into one calibrated score.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400" b="0">
                <a:solidFill>
                  <a:srgbClr val="E8EEF6"/>
                </a:solidFill>
                <a:latin typeface="Segoe UI"/>
              </a:rPr>
              <a:t>It reads the career narrative (titles, role descriptions, tenure, company type) far above the self-declared skills list.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400" b="0">
                <a:solidFill>
                  <a:srgbClr val="E8EEF6"/>
                </a:solidFill>
                <a:latin typeface="Segoe UI"/>
              </a:rPr>
              <a:t>Ships an end-to-end product: drag-drop dataset, role selector, tunable weights, ranked leaderboard, per-candidate reasoning, Excel export, and a live activity 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What differentiates us from traditional matching?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2920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Evidence &gt; assertion. </a:t>
            </a:r>
            <a:r>
              <a:rPr sz="1300" b="0">
                <a:solidFill>
                  <a:srgbClr val="E8EEF6"/>
                </a:solidFill>
                <a:latin typeface="Segoe UI"/>
              </a:rPr>
              <a:t>We discount skills that aren't backed by endorsements or real usage — neutralising keyword-stuffers.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Trap-resistant. </a:t>
            </a:r>
            <a:r>
              <a:rPr sz="1300" b="0">
                <a:solidFill>
                  <a:srgbClr val="E8EEF6"/>
                </a:solidFill>
                <a:latin typeface="Segoe UI"/>
              </a:rPr>
              <a:t>An Integrity Warden floors logically impossible “honeypot” profiles.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Explainable &amp; fast. </a:t>
            </a:r>
            <a:r>
              <a:rPr sz="1300" b="0">
                <a:solidFill>
                  <a:srgbClr val="E8EEF6"/>
                </a:solidFill>
                <a:latin typeface="Segoe UI"/>
              </a:rPr>
              <a:t>Every rank carries a grounded reason; runs CPU-only,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3096" y="1591056"/>
            <a:ext cx="5138928" cy="468172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60295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JD Understanding &amp; Candidate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5257800" cy="4663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Key requirements extracted from the 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300" b="0">
                <a:solidFill>
                  <a:srgbClr val="E8EEF6"/>
                </a:solidFill>
                <a:latin typeface="Segoe UI"/>
              </a:rPr>
              <a:t>Production embeddings / retrieval, vector DBs &amp; hybrid search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300" b="0">
                <a:solidFill>
                  <a:srgbClr val="E8EEF6"/>
                </a:solidFill>
                <a:latin typeface="Segoe UI"/>
              </a:rPr>
              <a:t>Demonstrated ranking / search / recommendation systems at product companies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300" b="0">
                <a:solidFill>
                  <a:srgbClr val="E8EEF6"/>
                </a:solidFill>
                <a:latin typeface="Segoe UI"/>
              </a:rPr>
              <a:t>5–9 yrs experience (6–8 ideal); strong Python; ranking-eval literacy (NDCG/MRR/MAP)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Segoe UI"/>
              </a:rPr>
              <a:t>Hard dis-qualifiers: </a:t>
            </a:r>
            <a:r>
              <a:rPr sz="1300" b="0">
                <a:solidFill>
                  <a:srgbClr val="E8EEF6"/>
                </a:solidFill>
                <a:latin typeface="Segoe UI"/>
              </a:rPr>
              <a:t>services-only careers, title-chasers, &lt;12-mo LangChain-only, CV/speech-only without NLP/IR.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257800" cy="4663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Signals that determine relevance (beyond keywords)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8600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Role identity — </a:t>
            </a:r>
            <a:r>
              <a:rPr sz="1300" b="0">
                <a:solidFill>
                  <a:srgbClr val="E8EEF6"/>
                </a:solidFill>
                <a:latin typeface="Segoe UI"/>
              </a:rPr>
              <a:t>current title must match reality (an “HR Manager” with AI skills is penalised).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Career evidence — </a:t>
            </a:r>
            <a:r>
              <a:rPr sz="1300" b="0">
                <a:solidFill>
                  <a:srgbClr val="E8EEF6"/>
                </a:solidFill>
                <a:latin typeface="Segoe UI"/>
              </a:rPr>
              <a:t>mining role descriptions for “built / shipped / scaled a system”.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Skill trust — </a:t>
            </a:r>
            <a:r>
              <a:rPr sz="1300" b="0">
                <a:solidFill>
                  <a:srgbClr val="E8EEF6"/>
                </a:solidFill>
                <a:latin typeface="Segoe UI"/>
              </a:rPr>
              <a:t>proficiency × endorsements × usage-duration × assessment score.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Behavioural availability — </a:t>
            </a:r>
            <a:r>
              <a:rPr sz="1300" b="0">
                <a:solidFill>
                  <a:srgbClr val="E8EEF6"/>
                </a:solidFill>
                <a:latin typeface="Segoe UI"/>
              </a:rPr>
              <a:t>recency, recruiter-response rate, open-to-work, notice period.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Trajectory — </a:t>
            </a:r>
            <a:r>
              <a:rPr sz="1300" b="0">
                <a:solidFill>
                  <a:srgbClr val="E8EEF6"/>
                </a:solidFill>
                <a:latin typeface="Segoe UI"/>
              </a:rPr>
              <a:t>experience band fit + tenure stability (anti job-hopper).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Ranking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Retrieve → Score (Council of Nine) → Gate → Calibrate → Rank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10881360" cy="64008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2D3EE"/>
                </a:solidFill>
                <a:latin typeface="Consolas"/>
              </a:rPr>
              <a:t>final = council_core × integrity × negative_screen × availability + soft_nudges   →  calibrated 0–100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34640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53512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1 · Semantic Seer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91840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dense JD↔profile similarity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2834640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7" y="2953512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8B5CF6"/>
                </a:solidFill>
                <a:latin typeface="Segoe UI"/>
              </a:rPr>
              <a:t>2 · Name-Rectifier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7" y="3291840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title matches reality (anti-stuffer)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834640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2953512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3 · Evidence Scout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3291840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“shipped a system” 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41064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059936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43F5E"/>
                </a:solidFill>
                <a:latin typeface="Segoe UI"/>
              </a:rPr>
              <a:t>4 · Mask-Piercer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398264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verified skill-trust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5" y="3941064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7" y="4059936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5 · Path-Reader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7" y="4398264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experience band + tenure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3941064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4059936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8B5CF6"/>
                </a:solidFill>
                <a:latin typeface="Segoe UI"/>
              </a:rPr>
              <a:t>6 · Terrain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4398264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product-vs-services + domain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47488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166359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7 · Neti-Neti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504688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negative screen (multiplier)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5" y="5047488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7" y="5166359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43F5E"/>
                </a:solidFill>
                <a:latin typeface="Segoe UI"/>
              </a:rPr>
              <a:t>8 · Integrity Warden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7" y="5504688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honeypot / plausibility 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5047488"/>
            <a:ext cx="3529584" cy="96012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5166359"/>
            <a:ext cx="3255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9 · Availability Oracle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5504688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behavioural modifier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3A4B8"/>
                </a:solidFill>
                <a:latin typeface="Segoe UI"/>
              </a:rPr>
              <a:t>Each scorer maps a tested judgement principle (Confucius’ “rectification of names”, Sun Tzu, Kautilya’s Arthashastra, Japanese honne/tatemae) to a concrete, measurable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Explainability &amp; Data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How decisions are explained. </a:t>
            </a:r>
            <a:r>
              <a:rPr sz="1350" b="0">
                <a:solidFill>
                  <a:srgbClr val="E8EEF6"/>
                </a:solidFill>
                <a:latin typeface="Segoe UI"/>
              </a:rPr>
              <a:t>Every candidate gets a 1–2 sentence grounded reason plus the full breakdown of all nine scores with a one-line rationale each.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Segoe UI"/>
              </a:rPr>
              <a:t>No hallucinations. </a:t>
            </a:r>
            <a:r>
              <a:rPr sz="1350" b="0">
                <a:solidFill>
                  <a:srgbClr val="E8EEF6"/>
                </a:solidFill>
                <a:latin typeface="Segoe UI"/>
              </a:rPr>
              <a:t>Reasoning is assembled only from fields that exist in the profile; skills are surfaced only if verified (endorsed / actually used) — the model can never cite a skill the candidate doesn’t hold.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Honest concerns. </a:t>
            </a:r>
            <a:r>
              <a:rPr sz="1350" b="0">
                <a:solidFill>
                  <a:srgbClr val="E8EEF6"/>
                </a:solidFill>
                <a:latin typeface="Segoe UI"/>
              </a:rPr>
              <a:t>Flaws are stated, not hidden (e.g. “strong fit, but 120-day notice”). Tone matches the rank.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50" b="1">
                <a:solidFill>
                  <a:srgbClr val="F43F5E"/>
                </a:solidFill>
                <a:latin typeface="Segoe UI"/>
              </a:rPr>
              <a:t>Suspicious / low-quality profiles. </a:t>
            </a:r>
            <a:r>
              <a:rPr sz="1350" b="0">
                <a:solidFill>
                  <a:srgbClr val="E8EEF6"/>
                </a:solidFill>
                <a:latin typeface="Segoe UI"/>
              </a:rPr>
              <a:t>The Integrity Warden runs logical-consistency checks — a role longer than the whole career, a skill used longer than the career, “expert” with 0 months — and excludes these honeypots from the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591056"/>
            <a:ext cx="5230368" cy="468172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120640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End-to-End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697480" cy="1234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19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1.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Drag-drop a .json/.jsonl pool (any size) or use the default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91640"/>
            <a:ext cx="2697480" cy="1234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19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2.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94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Pick the target role; tune the nine weights &amp; parameters (YOE, notice, toggles).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1031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691640"/>
            <a:ext cx="2697480" cy="1234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819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3. 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Retrieve (TF-IDF + LSA) → score the whole pool → gate honeypots → calibrate.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1031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691640"/>
            <a:ext cx="2697480" cy="1234440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819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4. Explore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194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Leaderboard, candidate drawer, analytics, fairness, logs → export Excel.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3" y="3191256"/>
            <a:ext cx="3675887" cy="303580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1_sta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594735"/>
            <a:ext cx="3566160" cy="222885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315968" y="3191256"/>
            <a:ext cx="3675887" cy="303580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_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594735"/>
            <a:ext cx="3566160" cy="22288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28431" y="3191256"/>
            <a:ext cx="3584448" cy="303580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n3_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3623310"/>
            <a:ext cx="3474720" cy="2171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383280" cy="3200400"/>
          </a:xfrm>
          <a:prstGeom prst="roundRect">
            <a:avLst/>
          </a:prstGeom>
          <a:solidFill>
            <a:srgbClr val="121E33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383280" cy="54864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Frontend · Next.js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603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Stripe-style dashboard (Tailwind)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Drag-drop upload, role + weights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Leaderboard, drawer, analytics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Live Logs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3200400"/>
          </a:xfrm>
          <a:prstGeom prst="roundRect">
            <a:avLst/>
          </a:prstGeom>
          <a:solidFill>
            <a:srgbClr val="121E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338328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9385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API ·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5603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Background ranking job + polling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/rank /status /leaderboard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/candidate /analytics /compliance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/honeypots /export /logs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383280" cy="3200400"/>
          </a:xfrm>
          <a:prstGeom prst="roundRect">
            <a:avLst/>
          </a:prstGeom>
          <a:solidFill>
            <a:srgbClr val="121E3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828800"/>
            <a:ext cx="338328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9385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Engine · Council of Nine (src/)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603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load · features · retrieve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council (9 scorers) · integrity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fairness · reasoning · score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CPU-only, offline, deterministic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3108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93A4B8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1089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93A4B8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49240"/>
            <a:ext cx="10881360" cy="91440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EEF6"/>
                </a:solidFill>
                <a:latin typeface="Segoe UI"/>
              </a:rPr>
              <a:t>Two-phase design: </a:t>
            </a:r>
            <a:r>
              <a:rPr sz="1300" b="0">
                <a:solidFill>
                  <a:srgbClr val="93A4B8"/>
                </a:solidFill>
                <a:latin typeface="Segoe UI"/>
              </a:rPr>
              <a:t>heavy index-building runs once; the online ranking step produces the shortlist in ~2 min on CPU with no network calls — meeting the challenge’s ≤5-min / 16 GB / offline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Results &amp;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606040" cy="1371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2D3EE"/>
                </a:solidFill>
                <a:latin typeface="Segoe UI"/>
              </a:rPr>
              <a:t>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candidates ranked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1691640"/>
            <a:ext cx="2606040" cy="1371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0B981"/>
                </a:solidFill>
                <a:latin typeface="Segoe UI"/>
              </a:rPr>
              <a:t>~90–135s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7" y="24688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CPU · offline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691640"/>
            <a:ext cx="2606040" cy="1371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59E0B"/>
                </a:solidFill>
                <a:latin typeface="Segoe UI"/>
              </a:rPr>
              <a:t>0.04–0.7%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24688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honeypots flagged (DQ at 10%)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691640"/>
            <a:ext cx="2606040" cy="1371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8B5CF6"/>
                </a:solidFill>
                <a:latin typeface="Segoe UI"/>
              </a:rPr>
              <a:t>10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4688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engine tests passing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38328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Right people at the top. </a:t>
            </a:r>
            <a:r>
              <a:rPr sz="1300" b="0">
                <a:solidFill>
                  <a:srgbClr val="E8EEF6"/>
                </a:solidFill>
                <a:latin typeface="Segoe UI"/>
              </a:rPr>
              <a:t>On the full pool, ranks 1–N are genuine Staff/Lead/Senior ML, AI, NLP &amp; Search engineers — not keyword-stuffers.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Trap-resistant. </a:t>
            </a:r>
            <a:r>
              <a:rPr sz="1300" b="0">
                <a:solidFill>
                  <a:srgbClr val="E8EEF6"/>
                </a:solidFill>
                <a:latin typeface="Segoe UI"/>
              </a:rPr>
              <a:t>Plain-language “hidden gems” beat keyword-perfect wrong-role profiles in our test suite.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Format-valid. </a:t>
            </a:r>
            <a:r>
              <a:rPr sz="1300" b="0">
                <a:solidFill>
                  <a:srgbClr val="E8EEF6"/>
                </a:solidFill>
                <a:latin typeface="Segoe UI"/>
              </a:rPr>
              <a:t>Output passes the official validate_submission.py (“Submission is valid.”).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E8EEF6"/>
                </a:solidFill>
                <a:latin typeface="Segoe UI"/>
              </a:rPr>
              <a:t>Budget-safe. </a:t>
            </a:r>
            <a:r>
              <a:rPr sz="1300" b="0">
                <a:solidFill>
                  <a:srgbClr val="E8EEF6"/>
                </a:solidFill>
                <a:latin typeface="Segoe UI"/>
              </a:rPr>
              <a:t>~2 min for 100K on CPU — ~2.5× under the 5-minute limit.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3236976"/>
            <a:ext cx="5230368" cy="303580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5" y="3291840"/>
            <a:ext cx="468172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Technologies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2606040" cy="3657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77440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Python 3.13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scikit-learn — TF-IDF + LSA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NumPy / SciPy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pandas + openpyxl (export)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1737360"/>
            <a:ext cx="2606040" cy="3657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901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8B5CF6"/>
                </a:solidFill>
                <a:latin typeface="Segoe UI"/>
              </a:rPr>
              <a:t>Serving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77440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FastAPI + Uvicorn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Background jobs + polling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Pydantic models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CORS / 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737360"/>
            <a:ext cx="2606040" cy="3657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01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77440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Next.js 14 + React 18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Tailwind CSS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SVG charts &amp; donut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Live logs console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737360"/>
            <a:ext cx="2606040" cy="3657600"/>
          </a:xfrm>
          <a:prstGeom prst="roundRect">
            <a:avLst/>
          </a:prstGeom>
          <a:solidFill>
            <a:srgbClr val="121E33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7" y="1901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Quality &amp;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2377440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Streamlit (hosted demo)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Playwright (UI tests)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Pluggable: Nomic/SPLADE/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●  </a:t>
            </a:r>
            <a:r>
              <a:rPr sz="1200" b="0">
                <a:solidFill>
                  <a:srgbClr val="E8EEF6"/>
                </a:solidFill>
                <a:latin typeface="Segoe UI"/>
              </a:rPr>
              <a:t>Qwen3 + ONNX (upgrade path)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692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Why this stack: </a:t>
            </a:r>
            <a:r>
              <a:rPr sz="1250" b="0">
                <a:solidFill>
                  <a:srgbClr val="93A4B8"/>
                </a:solidFill>
                <a:latin typeface="Segoe UI"/>
              </a:rPr>
              <a:t>a CPU-first, dependency-light core guarantees the engine reproduces inside the contest’s offline 5-minute budget, while the architecture leaves a clean drop-in path to 2026 SOTA models (Nomic Embed, SPLADE v3, Qwen3-Reranker, ONNX) for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Segoe UI"/>
              </a:rPr>
              <a:t>SECTION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Submission Assets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93A4B8"/>
                </a:solidFill>
                <a:latin typeface="Segoe UI"/>
              </a:rP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10881360" cy="84124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109728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56231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Full implementation — engine, API, web UI, tests,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1167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E8EEF6"/>
                </a:solidFill>
                <a:latin typeface="Consolas"/>
              </a:rPr>
              <a:t>github.com/&lt;your-username&gt;/AI-RECRUITING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70048"/>
            <a:ext cx="10881360" cy="84124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70048"/>
            <a:ext cx="109728" cy="8412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8B5CF6"/>
                </a:solidFill>
                <a:latin typeface="Segoe UI"/>
              </a:rPr>
              <a:t>Demo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2724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Recorded walkthrough of the working system (this submission).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94436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E8EEF6"/>
                </a:solidFill>
                <a:latin typeface="Consolas"/>
              </a:rPr>
              <a:t>Rainlight_Council_Demo.mp4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02736"/>
            <a:ext cx="10881360" cy="84124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02736"/>
            <a:ext cx="109728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216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Live sandbox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59935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Hosted demo to run the ranker on a sample (Streamlit Cloud / HF Spaces).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87705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E8EEF6"/>
                </a:solidFill>
                <a:latin typeface="Consolas"/>
              </a:rPr>
              <a:t>&lt;your-sandbox-url&gt;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35424"/>
            <a:ext cx="10881360" cy="84124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535424"/>
            <a:ext cx="109728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542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Ranked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92624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Top-100 shortlist in the required CSV format (validator-passed).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80974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E8EEF6"/>
                </a:solidFill>
                <a:latin typeface="Consolas"/>
              </a:rPr>
              <a:t>submission.csv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468112"/>
            <a:ext cx="10881360" cy="841248"/>
          </a:xfrm>
          <a:prstGeom prst="roundRect">
            <a:avLst/>
          </a:prstGeom>
          <a:solidFill>
            <a:srgbClr val="121E33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468112"/>
            <a:ext cx="109728" cy="8412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869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43F5E"/>
                </a:solidFill>
                <a:latin typeface="Segoe UI"/>
              </a:rPr>
              <a:t>This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92531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4B8"/>
                </a:solidFill>
                <a:latin typeface="Segoe UI"/>
              </a:rPr>
              <a:t>Approach, architecture &amp; results (PDF + PPTX).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7424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E8EEF6"/>
                </a:solidFill>
                <a:latin typeface="Consolas"/>
              </a:rPr>
              <a:t>Rainlight_Redrob_Submission.pdf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Rainlight </a:t>
            </a:r>
            <a:r>
              <a:rPr sz="4000" b="1">
                <a:solidFill>
                  <a:srgbClr val="FFFFFF"/>
                </a:solidFill>
                <a:latin typeface="Segoe UI"/>
              </a:rPr>
              <a:t>— The AI Recruiting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93A4B8"/>
                </a:solidFill>
                <a:latin typeface="Segoe UI"/>
              </a:rPr>
              <a:t>We don’t match keywords. We read careers, verify claims, weigh availability,
and explain every decision — at India scale, on a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754880"/>
            <a:ext cx="2170785" cy="310896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91456"/>
            <a:ext cx="217078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Team Rainlight · Varshith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3A4B8"/>
                </a:solidFill>
                <a:latin typeface="Segoe UI"/>
              </a:rPr>
              <a:t>India Runs by Redrob AI  ·  Track 1 — The Data &amp; AI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